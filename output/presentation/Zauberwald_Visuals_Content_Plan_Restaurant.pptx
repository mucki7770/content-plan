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4497cbc5304e48" /><Relationship Type="http://schemas.openxmlformats.org/officeDocument/2006/relationships/extended-properties" Target="/docProps/app.xml" Id="R2a613f8742104ba2" /><Relationship Type="http://schemas.openxmlformats.org/officeDocument/2006/relationships/officeDocument" Target="/ppt/presentation.xml" Id="R313a1081b2c54f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9627cac0514dab"/>
  </p:sldMasterIdLst>
  <p:notesMasterIdLst>
    <p:notesMasterId xmlns:r="http://schemas.openxmlformats.org/officeDocument/2006/relationships" r:id="Re153cae3f04b4b18"/>
  </p:notesMasterIdLst>
  <p:sldIdLst>
    <p:sldId xmlns:r="http://schemas.openxmlformats.org/officeDocument/2006/relationships" id="256" r:id="Rd088ef100843430d"/>
    <p:sldId xmlns:r="http://schemas.openxmlformats.org/officeDocument/2006/relationships" id="257" r:id="Rdf3311a718de439a"/>
    <p:sldId xmlns:r="http://schemas.openxmlformats.org/officeDocument/2006/relationships" id="258" r:id="R4222a457e63746a5"/>
    <p:sldId xmlns:r="http://schemas.openxmlformats.org/officeDocument/2006/relationships" id="259" r:id="R163b446390b4446e"/>
    <p:sldId xmlns:r="http://schemas.openxmlformats.org/officeDocument/2006/relationships" id="260" r:id="R560aa5281ebd4a01"/>
    <p:sldId xmlns:r="http://schemas.openxmlformats.org/officeDocument/2006/relationships" id="261" r:id="Rc54f2c8020d44fe2"/>
    <p:sldId xmlns:r="http://schemas.openxmlformats.org/officeDocument/2006/relationships" id="262" r:id="R933a9065e9c6411f"/>
    <p:sldId xmlns:r="http://schemas.openxmlformats.org/officeDocument/2006/relationships" id="263" r:id="R3bd424310b0c4d8c"/>
    <p:sldId xmlns:r="http://schemas.openxmlformats.org/officeDocument/2006/relationships" id="264" r:id="R28ed0add85104468"/>
    <p:sldId xmlns:r="http://schemas.openxmlformats.org/officeDocument/2006/relationships" id="265" r:id="R67cb545a03e24a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6714fb903d4cc2" /><Relationship Type="http://schemas.openxmlformats.org/officeDocument/2006/relationships/slideMaster" Target="/ppt/slideMasters/slideMaster1.xml" Id="Rfd9627cac0514dab" /><Relationship Type="http://schemas.openxmlformats.org/officeDocument/2006/relationships/notesMaster" Target="/ppt/notesMasters/notesMaster1.xml" Id="Re153cae3f04b4b18" /><Relationship Type="http://schemas.openxmlformats.org/officeDocument/2006/relationships/presProps" Target="/ppt/presProps.xml" Id="R3616d6274325404b" /><Relationship Type="http://schemas.openxmlformats.org/officeDocument/2006/relationships/tableStyles" Target="/ppt/tableStyles.xml" Id="R5853f8716fab4f45" /><Relationship Type="http://schemas.openxmlformats.org/officeDocument/2006/relationships/slide" Target="/ppt/slides/slide1.xml" Id="Rd088ef100843430d" /><Relationship Type="http://schemas.openxmlformats.org/officeDocument/2006/relationships/slide" Target="/ppt/slides/slide2.xml" Id="Rdf3311a718de439a" /><Relationship Type="http://schemas.openxmlformats.org/officeDocument/2006/relationships/slide" Target="/ppt/slides/slide3.xml" Id="R4222a457e63746a5" /><Relationship Type="http://schemas.openxmlformats.org/officeDocument/2006/relationships/slide" Target="/ppt/slides/slide4.xml" Id="R163b446390b4446e" /><Relationship Type="http://schemas.openxmlformats.org/officeDocument/2006/relationships/slide" Target="/ppt/slides/slide5.xml" Id="R560aa5281ebd4a01" /><Relationship Type="http://schemas.openxmlformats.org/officeDocument/2006/relationships/slide" Target="/ppt/slides/slide6.xml" Id="Rc54f2c8020d44fe2" /><Relationship Type="http://schemas.openxmlformats.org/officeDocument/2006/relationships/slide" Target="/ppt/slides/slide7.xml" Id="R933a9065e9c6411f" /><Relationship Type="http://schemas.openxmlformats.org/officeDocument/2006/relationships/slide" Target="/ppt/slides/slide8.xml" Id="R3bd424310b0c4d8c" /><Relationship Type="http://schemas.openxmlformats.org/officeDocument/2006/relationships/slide" Target="/ppt/slides/slide9.xml" Id="R28ed0add85104468" /><Relationship Type="http://schemas.openxmlformats.org/officeDocument/2006/relationships/slide" Target="/ppt/slides/slide10.xml" Id="R67cb545a03e24a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f267beddad46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23712822e542a4" /><Relationship Type="http://schemas.openxmlformats.org/officeDocument/2006/relationships/notesMaster" Target="/ppt/notesMasters/notesMaster1.xml" Id="R01264f7e64d945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d1ca45306d4ab0" /><Relationship Type="http://schemas.openxmlformats.org/officeDocument/2006/relationships/notesMaster" Target="/ppt/notesMasters/notesMaster1.xml" Id="Reefca936f6aa4b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f34a23563f471f" /><Relationship Type="http://schemas.openxmlformats.org/officeDocument/2006/relationships/notesMaster" Target="/ppt/notesMasters/notesMaster1.xml" Id="R9217f441f0de4f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50e3968ebc4a5c" /><Relationship Type="http://schemas.openxmlformats.org/officeDocument/2006/relationships/notesMaster" Target="/ppt/notesMasters/notesMaster1.xml" Id="R132b6cc0c5f547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ea148854c044a9" /><Relationship Type="http://schemas.openxmlformats.org/officeDocument/2006/relationships/notesMaster" Target="/ppt/notesMasters/notesMaster1.xml" Id="R2cc235a4037a4b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04709c0b6d4e3f" /><Relationship Type="http://schemas.openxmlformats.org/officeDocument/2006/relationships/notesMaster" Target="/ppt/notesMasters/notesMaster1.xml" Id="Rdd0b3a7c959f40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d10d2ad8df4068" /><Relationship Type="http://schemas.openxmlformats.org/officeDocument/2006/relationships/notesMaster" Target="/ppt/notesMasters/notesMaster1.xml" Id="Rc750cdbd624448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fc8c09baea426a" /><Relationship Type="http://schemas.openxmlformats.org/officeDocument/2006/relationships/notesMaster" Target="/ppt/notesMasters/notesMaster1.xml" Id="R2c142ad2e92c45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e97de1cc4548c3" /><Relationship Type="http://schemas.openxmlformats.org/officeDocument/2006/relationships/notesMaster" Target="/ppt/notesMasters/notesMaster1.xml" Id="R6f94d9ea52824d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714fd4568341fc" /><Relationship Type="http://schemas.openxmlformats.org/officeDocument/2006/relationships/notesMaster" Target="/ppt/notesMasters/notesMaster1.xml" Id="Rb1ba2d0d9f8a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reference: https://zauberwald-visuals.de/work (accessed 2026-08-20)</a:t>
            </a:r>
          </a:p>
          <a:p xmlns:a="http://schemas.openxmlformats.org/drawingml/2006/main">
            <a:r>
              <a:t>- Restaurant imagery: AI-generated concept photography by OpenAI image generation for this presentation, 2026-08-20.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reference: https://zauberwald-visuals.de/work (accessed 2026-08-20)</a:t>
            </a:r>
          </a:p>
          <a:p xmlns:a="http://schemas.openxmlformats.org/drawingml/2006/main">
            <a:r>
              <a:t>- Restaurant imagery: AI-generated concept photography by OpenAI image generation for this presentation, 2026-08-20.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reference: https://zauberwald-visuals.de/work (accessed 2026-08-20)</a:t>
            </a:r>
          </a:p>
          <a:p xmlns:a="http://schemas.openxmlformats.org/drawingml/2006/main">
            <a:r>
              <a:t>- Restaurant imagery: AI-generated concept photography by OpenAI image generation for this presentation, 2026-08-20.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reference: https://zauberwald-visuals.de/work (accessed 2026-08-20)</a:t>
            </a:r>
          </a:p>
          <a:p xmlns:a="http://schemas.openxmlformats.org/drawingml/2006/main">
            <a:r>
              <a:t>- Restaurant imagery: AI-generated concept photography by OpenAI image generation for this presentation, 2026-08-20.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reference: https://zauberwald-visuals.de/work (accessed 2026-08-20)</a:t>
            </a:r>
          </a:p>
          <a:p xmlns:a="http://schemas.openxmlformats.org/drawingml/2006/main">
            <a:r>
              <a:t>- Restaurant imagery: AI-generated concept photography by OpenAI image generation for this presentation, 2026-08-20.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reference: https://zauberwald-visuals.de/work (accessed 2026-08-20)</a:t>
            </a:r>
          </a:p>
          <a:p xmlns:a="http://schemas.openxmlformats.org/drawingml/2006/main">
            <a:r>
              <a:t>- Restaurant imagery: AI-generated concept photography by OpenAI image generation for this presentation, 2026-08-20.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reference: https://zauberwald-visuals.de/work (accessed 2026-08-20)</a:t>
            </a:r>
          </a:p>
          <a:p xmlns:a="http://schemas.openxmlformats.org/drawingml/2006/main">
            <a:r>
              <a:t>- Restaurant imagery: AI-generated concept photography by OpenAI image generation for this presentation, 2026-08-20.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reference: https://zauberwald-visuals.de/work (accessed 2026-08-20)</a:t>
            </a:r>
          </a:p>
          <a:p xmlns:a="http://schemas.openxmlformats.org/drawingml/2006/main">
            <a:r>
              <a:t>- Restaurant imagery: AI-generated concept photography by OpenAI image generation for this presentation, 2026-08-20.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reference: https://zauberwald-visuals.de/work (accessed 2026-08-20)</a:t>
            </a:r>
          </a:p>
          <a:p xmlns:a="http://schemas.openxmlformats.org/drawingml/2006/main">
            <a:r>
              <a:t>- Restaurant imagery: AI-generated concept photography by OpenAI image generation for this presentation, 2026-08-20.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reference: https://zauberwald-visuals.de/work (accessed 2026-08-20)</a:t>
            </a:r>
          </a:p>
          <a:p xmlns:a="http://schemas.openxmlformats.org/drawingml/2006/main">
            <a:r>
              <a:t>- Restaurant imagery: AI-generated concept photography by OpenAI image generation for this presentation, 2026-08-20.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08b06ac71a40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4b9caf07a54579" /><Relationship Type="http://schemas.openxmlformats.org/officeDocument/2006/relationships/slideLayout" Target="/ppt/slideLayouts/slideLayout1.xml" Id="R0a40f5161c3948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40f5161c3948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1bd0cd8b04b81" /><Relationship Type="http://schemas.openxmlformats.org/officeDocument/2006/relationships/image" Target="/ppt/media/image.png" Id="R56e85a28e1fa46fd" /><Relationship Type="http://schemas.openxmlformats.org/officeDocument/2006/relationships/notesSlide" Target="/ppt/notesSlides/notesSlide1.xml" Id="Re9b62a6a69ec41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8974d98e24c76" /><Relationship Type="http://schemas.openxmlformats.org/officeDocument/2006/relationships/image" Target="/ppt/media/image2.png" Id="R946b93dab2e14ff9" /><Relationship Type="http://schemas.openxmlformats.org/officeDocument/2006/relationships/notesSlide" Target="/ppt/notesSlides/notesSlide2.xml" Id="R48521c143cc041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73891fb9a44da" /><Relationship Type="http://schemas.openxmlformats.org/officeDocument/2006/relationships/image" Target="/ppt/media/image3.png" Id="R47c6688475c9461b" /><Relationship Type="http://schemas.openxmlformats.org/officeDocument/2006/relationships/image" Target="/ppt/media/image4.png" Id="Rfe17ffcc6dca4d95" /><Relationship Type="http://schemas.openxmlformats.org/officeDocument/2006/relationships/image" Target="/ppt/media/image5.png" Id="Rd17bdced828a4170" /><Relationship Type="http://schemas.openxmlformats.org/officeDocument/2006/relationships/notesSlide" Target="/ppt/notesSlides/notesSlide3.xml" Id="R308564067d6249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63fc9078b41d5" /><Relationship Type="http://schemas.openxmlformats.org/officeDocument/2006/relationships/image" Target="/ppt/media/image6.png" Id="R613fb7021efb4ba1" /><Relationship Type="http://schemas.openxmlformats.org/officeDocument/2006/relationships/notesSlide" Target="/ppt/notesSlides/notesSlide4.xml" Id="R6db37557958f42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d38319af1439e" /><Relationship Type="http://schemas.openxmlformats.org/officeDocument/2006/relationships/image" Target="/ppt/media/image7.png" Id="R27b2a41bc7644dff" /><Relationship Type="http://schemas.openxmlformats.org/officeDocument/2006/relationships/notesSlide" Target="/ppt/notesSlides/notesSlide5.xml" Id="Ra05619e29ebe4e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9b68baa1b4e5b" /><Relationship Type="http://schemas.openxmlformats.org/officeDocument/2006/relationships/image" Target="/ppt/media/image8.png" Id="R4d082ae0cefe4fa2" /><Relationship Type="http://schemas.openxmlformats.org/officeDocument/2006/relationships/notesSlide" Target="/ppt/notesSlides/notesSlide6.xml" Id="R0e775baba11746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2a9bd1ba74b3f" /><Relationship Type="http://schemas.openxmlformats.org/officeDocument/2006/relationships/image" Target="/ppt/media/image9.png" Id="Recb72d64d88946f5" /><Relationship Type="http://schemas.openxmlformats.org/officeDocument/2006/relationships/notesSlide" Target="/ppt/notesSlides/notesSlide7.xml" Id="Reea263d1062f42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a85a3697742bf" /><Relationship Type="http://schemas.openxmlformats.org/officeDocument/2006/relationships/image" Target="/ppt/media/image10.png" Id="Rf49aceaf529345b7" /><Relationship Type="http://schemas.openxmlformats.org/officeDocument/2006/relationships/notesSlide" Target="/ppt/notesSlides/notesSlide8.xml" Id="Rc0d13a74bdbe44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936aea44344fc" /><Relationship Type="http://schemas.openxmlformats.org/officeDocument/2006/relationships/notesSlide" Target="/ppt/notesSlides/notesSlide9.xml" Id="R6ef481c236ca4e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f9bded0964c68" /><Relationship Type="http://schemas.openxmlformats.org/officeDocument/2006/relationships/notesSlide" Target="/ppt/notesSlides/notesSlide10.xml" Id="R10a03806c3194f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85a28e1fa46fd"/>
          <a:srcRect xmlns:a="http://schemas.openxmlformats.org/drawingml/2006/main" l="15833" t="0" r="15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0"/>
            <a:ext cx="70294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036A3B33-C70C-446B-8EE7-C511C1C6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62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A4383A9-89C9-4F3C-B9BF-988ED64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79B64"/>
                </a:solidFill>
              </a:defRPr>
            </a:pPr>
            <a:r>
              <a:rPr sz="1275" b="1" i="0">
                <a:solidFill>
                  <a:srgbClr val="D79B64"/>
                </a:solidFill>
              </a:rPr>
              <a:t>CONTENT PLAN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A7C28949-4043-4A1D-A77D-D40E3735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6F2EA"/>
                </a:solidFill>
              </a:defRPr>
            </a:pPr>
            <a:r>
              <a:rPr sz="5100" b="1" i="0">
                <a:solidFill>
                  <a:srgbClr val="F6F2EA"/>
                </a:solidFill>
              </a:rPr>
              <a:t>Restaurant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5FF82A4-94A6-4CD6-A416-76C7A86F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85095FA-1D8C-45CC-BEB8-F9BDB600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905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6F2EA"/>
                </a:solidFill>
              </a:defRPr>
            </a:pPr>
            <a:r>
              <a:rPr sz="2250" b="0" i="0">
                <a:solidFill>
                  <a:srgbClr val="F6F2EA"/>
                </a:solidFill>
              </a:rPr>
              <a:t>Eine klare Bildsprache.</a:t>
            </a:r>
          </a:p>
          <a:p xmlns:a="http://schemas.openxmlformats.org/drawingml/2006/main">
            <a:pPr algn="l">
              <a:defRPr sz="2250" b="0" i="0">
                <a:solidFill>
                  <a:srgbClr val="F6F2EA"/>
                </a:solidFill>
              </a:defRPr>
            </a:pPr>
            <a:r>
              <a:rPr sz="2250" b="0" i="0">
                <a:solidFill>
                  <a:srgbClr val="F6F2EA"/>
                </a:solidFill>
              </a:rPr>
              <a:t>Ein planbarer Auftritt.</a:t>
            </a:r>
          </a:p>
          <a:p xmlns:a="http://schemas.openxmlformats.org/drawingml/2006/main">
            <a:pPr algn="l">
              <a:defRPr sz="2250" b="0" i="0">
                <a:solidFill>
                  <a:srgbClr val="F6F2EA"/>
                </a:solidFill>
              </a:defRPr>
            </a:pPr>
            <a:r>
              <a:rPr sz="2250" b="0" i="0">
                <a:solidFill>
                  <a:srgbClr val="F6F2EA"/>
                </a:solidFill>
              </a:rPr>
              <a:t>Content, der Appetit macht.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DFEDDB-CFCC-4B9C-B054-D31176D7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7A39B"/>
                </a:solidFill>
              </a:defRPr>
            </a:pPr>
            <a:r>
              <a:rPr sz="1200" b="1" i="0">
                <a:solidFill>
                  <a:srgbClr val="A7A39B"/>
                </a:solidFill>
              </a:rPr>
              <a:t>FOTOGRAFIE  /  VIDEO  /  HYBRID</a:t>
            </a:r>
          </a:p>
        </p:txBody>
      </p:sp>
    </p:spTree>
    <p:extLst>
      <p:ext uri="{BB962C8B-B14F-4D97-AF65-F5344CB8AC3E}">
        <p14:creationId xmlns:p14="http://schemas.microsoft.com/office/powerpoint/2010/main" val="1350100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5067EC7-70E4-4294-8F6D-5CF7702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01  /  DER ANSATZ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66B4BD2-0FD7-4CFF-865C-D4325ED1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000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6F2EA"/>
                </a:solidFill>
              </a:defRPr>
            </a:pPr>
            <a:r>
              <a:rPr sz="3600" b="1" i="0">
                <a:solidFill>
                  <a:srgbClr val="F6F2EA"/>
                </a:solidFill>
              </a:rPr>
              <a:t>Der Restaurantbesuch beginnt</a:t>
            </a:r>
          </a:p>
          <a:p xmlns:a="http://schemas.openxmlformats.org/drawingml/2006/main">
            <a:pPr algn="l">
              <a:defRPr sz="3600" b="1" i="0">
                <a:solidFill>
                  <a:srgbClr val="F6F2EA"/>
                </a:solidFill>
              </a:defRPr>
            </a:pPr>
            <a:r>
              <a:rPr sz="3600" b="1" i="0">
                <a:solidFill>
                  <a:srgbClr val="F6F2EA"/>
                </a:solidFill>
              </a:rPr>
              <a:t>vor der Reservierung.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703EDDB-6032-4C93-A75E-DC85040F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A7A39B"/>
                </a:solidFill>
              </a:defRPr>
            </a:pPr>
            <a:r>
              <a:rPr sz="1725" b="0" i="0">
                <a:solidFill>
                  <a:srgbClr val="A7A39B"/>
                </a:solidFill>
              </a:rPr>
              <a:t>Gäste entscheiden mit den Augen: über Atmosphäre, Handschrift und das Gefühl, das sie erwartet.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43AAAF9-0B32-4E3B-9068-A5D54E3B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77414E-40CD-4E05-9AF3-029C7370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6F2EA"/>
                </a:solidFill>
              </a:defRPr>
            </a:pPr>
            <a:r>
              <a:rPr sz="1875" b="1" i="0">
                <a:solidFill>
                  <a:srgbClr val="F6F2EA"/>
                </a:solidFill>
              </a:rPr>
              <a:t>Die Aufgabe des Contents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ABE017-8AEC-4611-BE3D-0E5846B0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6F2EA"/>
                </a:solidFill>
              </a:defRPr>
            </a:pPr>
            <a:r>
              <a:rPr sz="1425" b="0" i="0">
                <a:solidFill>
                  <a:srgbClr val="F6F2EA"/>
                </a:solidFill>
              </a:rPr>
              <a:t>Nicht einfach zeigen, was serviert wird - sondern spürbar machen, warum man genau hier einen Abend verbringen möchte.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b93dab2e14ff9"/>
          <a:srcRect xmlns:a="http://schemas.openxmlformats.org/drawingml/2006/main" l="21076" t="0" r="210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0"/>
            <a:ext cx="5467350" cy="6172200"/>
          </a:xfrm>
          <a:prstGeom xmlns:a="http://schemas.openxmlformats.org/drawingml/2006/main" prst="rect">
            <a:avLst/>
          </a:prstGeom>
        </p:spPr>
      </p:pic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A500F87D-BB59-47BC-ABB2-D2AD06E9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7A39B"/>
                </a:solidFill>
              </a:defRPr>
            </a:pPr>
            <a:r>
              <a:rPr sz="1050" b="1" i="0">
                <a:solidFill>
                  <a:srgbClr val="A7A39B"/>
                </a:solidFill>
              </a:rPr>
              <a:t>ZAUBERWALD / VISUALS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E11C4E-7B66-47E0-AB49-E29A2AEA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7A39B"/>
                </a:solidFill>
              </a:defRPr>
            </a:pPr>
            <a:r>
              <a:rPr sz="1050" b="0" i="0">
                <a:solidFill>
                  <a:srgbClr val="A7A39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6428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AE1866-4160-4929-8F18-4D40CF57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2328"/>
                </a:solidFill>
              </a:defRPr>
            </a:pPr>
            <a:r>
              <a:rPr sz="1200" b="1" i="0">
                <a:solidFill>
                  <a:srgbClr val="6D2328"/>
                </a:solidFill>
              </a:rPr>
              <a:t>02  /  DIE BILDWELT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4C661DC-4E64-4E0F-9D27-44158F5E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5810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50505"/>
                </a:solidFill>
              </a:defRPr>
            </a:pPr>
            <a:r>
              <a:rPr sz="3450" b="1" i="0">
                <a:solidFill>
                  <a:srgbClr val="050505"/>
                </a:solidFill>
              </a:rPr>
              <a:t>Eine visuelle Handschrift,</a:t>
            </a:r>
          </a:p>
          <a:p xmlns:a="http://schemas.openxmlformats.org/drawingml/2006/main">
            <a:pPr algn="l">
              <a:defRPr sz="3450" b="1" i="0">
                <a:solidFill>
                  <a:srgbClr val="050505"/>
                </a:solidFill>
              </a:defRPr>
            </a:pPr>
            <a:r>
              <a:rPr sz="3450" b="1" i="0">
                <a:solidFill>
                  <a:srgbClr val="050505"/>
                </a:solidFill>
              </a:rPr>
              <a:t>die sofort wiedererkennbar ist.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DE54937-5067-4FCE-AA84-F56B2DE5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F4B45"/>
                </a:solidFill>
              </a:defRPr>
            </a:pPr>
            <a:r>
              <a:rPr sz="1500" b="0" i="0">
                <a:solidFill>
                  <a:srgbClr val="4F4B45"/>
                </a:solidFill>
              </a:rPr>
              <a:t>Echt. Nah. Hochwertig. Mit tiefen Schatten, warmem Licht und Details, die den Charakter des Hauses tragen.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6688475c9461b"/>
          <a:srcRect xmlns:a="http://schemas.openxmlformats.org/drawingml/2006/main" l="0" t="2148" r="0" b="2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638550"/>
            <a:ext cx="3352800" cy="20955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7ffcc6dca4d95"/>
          <a:srcRect xmlns:a="http://schemas.openxmlformats.org/drawingml/2006/main" l="5450" t="0" r="54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71950" y="3276600"/>
            <a:ext cx="3352800" cy="24574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bdced828a4170"/>
          <a:srcRect xmlns:a="http://schemas.openxmlformats.org/drawingml/2006/main" l="5732" t="0" r="57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2895600"/>
            <a:ext cx="3848100" cy="283845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85EEB7-5DA6-4723-9082-945424E4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2328"/>
                </a:solidFill>
              </a:defRPr>
            </a:pPr>
            <a:r>
              <a:rPr sz="1200" b="1" i="0">
                <a:solidFill>
                  <a:srgbClr val="6D2328"/>
                </a:solidFill>
              </a:rPr>
              <a:t>SIGNATURE DISHES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EEE6B74-A5D5-4A52-A247-666F3083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9055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2328"/>
                </a:solidFill>
              </a:defRPr>
            </a:pPr>
            <a:r>
              <a:rPr sz="1200" b="1" i="0">
                <a:solidFill>
                  <a:srgbClr val="6D2328"/>
                </a:solidFill>
              </a:rPr>
              <a:t>RITUALE &amp; DETAILS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FC5688-F154-45A2-AEA5-96C33A7D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055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2328"/>
                </a:solidFill>
              </a:defRPr>
            </a:pPr>
            <a:r>
              <a:rPr sz="1200" b="1" i="0">
                <a:solidFill>
                  <a:srgbClr val="6D2328"/>
                </a:solidFill>
              </a:rPr>
              <a:t>TEXTUR &amp; HANDWERK</a:t>
            </a:r>
          </a:p>
        </p:txBody>
      </p:sp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3834F905-4B03-4319-93A9-7A3D7A4F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5952"/>
                </a:solidFill>
              </a:defRPr>
            </a:pPr>
            <a:r>
              <a:rPr sz="1050" b="1" i="0">
                <a:solidFill>
                  <a:srgbClr val="5C5952"/>
                </a:solidFill>
              </a:rPr>
              <a:t>ZAUBERWALD / VISUALS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DA5FCB-8750-4F28-990C-D27CD8D1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5952"/>
                </a:solidFill>
              </a:defRPr>
            </a:pPr>
            <a:r>
              <a:rPr sz="1050" b="0" i="0">
                <a:solidFill>
                  <a:srgbClr val="5C595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1453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fb7021efb4ba1"/>
          <a:srcRect xmlns:a="http://schemas.openxmlformats.org/drawingml/2006/main" l="24603" t="0" r="246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0AE4538-1D7B-42E7-9A27-D6D258D1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03  /  FOTOGRAFIE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E95B519-9282-43A8-8374-271FCB13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06680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6F2EA"/>
                </a:solidFill>
              </a:defRPr>
            </a:pPr>
            <a:r>
              <a:rPr sz="3450" b="1" i="0">
                <a:solidFill>
                  <a:srgbClr val="F6F2EA"/>
                </a:solidFill>
              </a:rPr>
              <a:t>Ein Shooting.</a:t>
            </a:r>
          </a:p>
          <a:p xmlns:a="http://schemas.openxmlformats.org/drawingml/2006/main">
            <a:pPr algn="l">
              <a:defRPr sz="3450" b="1" i="0">
                <a:solidFill>
                  <a:srgbClr val="F6F2EA"/>
                </a:solidFill>
              </a:defRPr>
            </a:pPr>
            <a:r>
              <a:rPr sz="3450" b="1" i="0">
                <a:solidFill>
                  <a:srgbClr val="F6F2EA"/>
                </a:solidFill>
              </a:rPr>
              <a:t>Content für viele Anlässe.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384D69-51B7-413D-9731-DAFB8178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860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7A39B"/>
                </a:solidFill>
              </a:defRPr>
            </a:pPr>
            <a:r>
              <a:rPr sz="1500" b="0" i="0">
                <a:solidFill>
                  <a:srgbClr val="A7A39B"/>
                </a:solidFill>
              </a:rPr>
              <a:t>Fotografie schafft eine starke, flexible Bildbibliothek für Website, Social Media, Presse und Reservierungsplattformen.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F99600-0BFA-47E4-AF3B-94F2E79D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24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46B394-44C3-42EC-B215-C84AE419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05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6F2EA"/>
                </a:solidFill>
              </a:defRPr>
            </a:pPr>
            <a:r>
              <a:rPr sz="1800" b="1" i="0">
                <a:solidFill>
                  <a:srgbClr val="F6F2EA"/>
                </a:solidFill>
              </a:rPr>
              <a:t>Gerichte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36E227F-188F-4F5C-A267-4C1A455C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39B"/>
                </a:solidFill>
              </a:defRPr>
            </a:pPr>
            <a:r>
              <a:rPr sz="1275" b="0" i="0">
                <a:solidFill>
                  <a:srgbClr val="A7A39B"/>
                </a:solidFill>
              </a:rPr>
              <a:t>Hero-Motive, Karte, saisonale Specials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DC02FA6D-4E9A-40F4-A8C4-CB9EE11B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243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77F0CD0-5103-46D4-B380-5AD6E475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640613-4036-494C-861D-A125A2B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6F2EA"/>
                </a:solidFill>
              </a:defRPr>
            </a:pPr>
            <a:r>
              <a:rPr sz="1800" b="1" i="0">
                <a:solidFill>
                  <a:srgbClr val="F6F2EA"/>
                </a:solidFill>
              </a:rPr>
              <a:t>Raum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86114AA-221C-4052-A0C0-9BFEC255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39B"/>
                </a:solidFill>
              </a:defRPr>
            </a:pPr>
            <a:r>
              <a:rPr sz="1275" b="0" i="0">
                <a:solidFill>
                  <a:srgbClr val="A7A39B"/>
                </a:solidFill>
              </a:rPr>
              <a:t>Interieur, Terrasse, Lichtstimmungen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422B727-8F17-431B-9252-650652AF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958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E49DBFB-E4F1-4B25-945A-D0FB5B9A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67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36762BD-A371-4570-9D40-7CE9C1EC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6F2EA"/>
                </a:solidFill>
              </a:defRPr>
            </a:pPr>
            <a:r>
              <a:rPr sz="1800" b="1" i="0">
                <a:solidFill>
                  <a:srgbClr val="F6F2EA"/>
                </a:solidFill>
              </a:rPr>
              <a:t>Menschen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CF3D166-C9C5-4217-8560-BF4DF7F7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86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39B"/>
                </a:solidFill>
              </a:defRPr>
            </a:pPr>
            <a:r>
              <a:rPr sz="1275" b="0" i="0">
                <a:solidFill>
                  <a:srgbClr val="A7A39B"/>
                </a:solidFill>
              </a:rPr>
              <a:t>Küche, Service, echte Begegnungen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853D34D-EB03-4F22-ACB4-90060355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673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3EC3E2C-763B-4A79-9D19-77874FFC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38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BD0EDB1-A7A2-4767-BFC1-5957DE7F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19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6F2EA"/>
                </a:solidFill>
              </a:defRPr>
            </a:pPr>
            <a:r>
              <a:rPr sz="1800" b="1" i="0">
                <a:solidFill>
                  <a:srgbClr val="F6F2EA"/>
                </a:solidFill>
              </a:rPr>
              <a:t>Details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40B5CB5-67D6-4D5A-B878-17CDC4C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57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39B"/>
                </a:solidFill>
              </a:defRPr>
            </a:pPr>
            <a:r>
              <a:rPr sz="1275" b="0" i="0">
                <a:solidFill>
                  <a:srgbClr val="A7A39B"/>
                </a:solidFill>
              </a:rPr>
              <a:t>Zutaten, Handgriffe, Signature-Rituale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A021A7E0-83F1-44D5-85DB-4C7193F9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388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B7BBB281-57A6-4883-9199-18BD7058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7A39B"/>
                </a:solidFill>
              </a:defRPr>
            </a:pPr>
            <a:r>
              <a:rPr sz="1050" b="1" i="0">
                <a:solidFill>
                  <a:srgbClr val="A7A39B"/>
                </a:solidFill>
              </a:rPr>
              <a:t>ZAUBERWALD / VISUALS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1404EE-E067-49F9-B6DC-392BE5C8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7A39B"/>
                </a:solidFill>
              </a:defRPr>
            </a:pPr>
            <a:r>
              <a:rPr sz="1050" b="0" i="0">
                <a:solidFill>
                  <a:srgbClr val="A7A39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8427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B3E45CE-0556-4104-9B51-9A2FF704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2328"/>
                </a:solidFill>
              </a:defRPr>
            </a:pPr>
            <a:r>
              <a:rPr sz="1200" b="1" i="0">
                <a:solidFill>
                  <a:srgbClr val="6D2328"/>
                </a:solidFill>
              </a:rPr>
              <a:t>04  /  VIDEO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2625B20-7C40-483C-8B86-C7F207D4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50505"/>
                </a:solidFill>
              </a:defRPr>
            </a:pPr>
            <a:r>
              <a:rPr sz="3450" b="1" i="0">
                <a:solidFill>
                  <a:srgbClr val="050505"/>
                </a:solidFill>
              </a:rPr>
              <a:t>Bewegung macht das Erlebnis spürbar.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32D3E9F-E6FF-4777-AE52-C4D8FED0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F4B45"/>
                </a:solidFill>
              </a:defRPr>
            </a:pPr>
            <a:r>
              <a:rPr sz="1500" b="0" i="0">
                <a:solidFill>
                  <a:srgbClr val="4F4B45"/>
                </a:solidFill>
              </a:rPr>
              <a:t>Dampf. Handgriffe. Einschenken. Der erste Schnitt. Kurze Filme übersetzen Atmosphäre in Vorfreude.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2a41bc7644dff"/>
          <a:srcRect xmlns:a="http://schemas.openxmlformats.org/drawingml/2006/main" l="0" t="11719" r="0" b="11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857500"/>
            <a:ext cx="6096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BBBB0C6-7C53-48B5-B819-C4662111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D2328"/>
                </a:solidFill>
              </a:defRPr>
            </a:pPr>
            <a:r>
              <a:rPr sz="1800" b="1" i="0">
                <a:solidFill>
                  <a:srgbClr val="6D2328"/>
                </a:solidFill>
              </a:rPr>
              <a:t>HERO REEL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75D4B86-D6C9-4101-9D0A-71DC9E18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50505"/>
                </a:solidFill>
              </a:defRPr>
            </a:pPr>
            <a:r>
              <a:rPr sz="1425" b="0" i="0">
                <a:solidFill>
                  <a:srgbClr val="050505"/>
                </a:solidFill>
              </a:rPr>
              <a:t>15-30 Sekunden</a:t>
            </a:r>
          </a:p>
          <a:p xmlns:a="http://schemas.openxmlformats.org/drawingml/2006/main">
            <a:pPr algn="l">
              <a:defRPr sz="1425" b="0" i="0">
                <a:solidFill>
                  <a:srgbClr val="050505"/>
                </a:solidFill>
              </a:defRPr>
            </a:pPr>
            <a:r>
              <a:rPr sz="1425" b="0" i="0">
                <a:solidFill>
                  <a:srgbClr val="050505"/>
                </a:solidFill>
              </a:rPr>
              <a:t>Der gesamte Abend als emotionaler Kurzfilm.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F87DF33-DD30-494D-915E-81D28126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240054-692F-4099-BE86-F35EBFF2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D2328"/>
                </a:solidFill>
              </a:defRPr>
            </a:pPr>
            <a:r>
              <a:rPr sz="1800" b="1" i="0">
                <a:solidFill>
                  <a:srgbClr val="6D2328"/>
                </a:solidFill>
              </a:rPr>
              <a:t>PROCESS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FBEFC9-ACEC-4853-9A9B-7732020C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50505"/>
                </a:solidFill>
              </a:defRPr>
            </a:pPr>
            <a:r>
              <a:rPr sz="1425" b="0" i="0">
                <a:solidFill>
                  <a:srgbClr val="050505"/>
                </a:solidFill>
              </a:rPr>
              <a:t>Vom Produkt bis zum Teller</a:t>
            </a:r>
          </a:p>
          <a:p xmlns:a="http://schemas.openxmlformats.org/drawingml/2006/main">
            <a:pPr algn="l">
              <a:defRPr sz="1425" b="0" i="0">
                <a:solidFill>
                  <a:srgbClr val="050505"/>
                </a:solidFill>
              </a:defRPr>
            </a:pPr>
            <a:r>
              <a:rPr sz="1425" b="0" i="0">
                <a:solidFill>
                  <a:srgbClr val="050505"/>
                </a:solidFill>
              </a:rPr>
              <a:t>Ein Ablauf, ein Handwerk, eine Geschichte.</a:t>
            </a:r>
          </a:p>
        </p:txBody>
      </p:sp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4492767E-B183-4ABB-AAAA-68716143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5952"/>
                </a:solidFill>
              </a:defRPr>
            </a:pPr>
            <a:r>
              <a:rPr sz="1050" b="1" i="0">
                <a:solidFill>
                  <a:srgbClr val="5C5952"/>
                </a:solidFill>
              </a:rPr>
              <a:t>ZAUBERWALD / VISUALS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B46C75-D9FB-4AAA-8514-FD9A028E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5952"/>
                </a:solidFill>
              </a:defRPr>
            </a:pPr>
            <a:r>
              <a:rPr sz="1050" b="0" i="0">
                <a:solidFill>
                  <a:srgbClr val="5C595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38674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767A75-C587-4050-9345-A6809A67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05  /  HYBRID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EFCC44D-8B10-45BE-BABD-24A149F6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28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6F2EA"/>
                </a:solidFill>
              </a:defRPr>
            </a:pPr>
            <a:r>
              <a:rPr sz="3450" b="1" i="0">
                <a:solidFill>
                  <a:srgbClr val="F6F2EA"/>
                </a:solidFill>
              </a:rPr>
              <a:t>Ein Produktionstag.</a:t>
            </a:r>
          </a:p>
          <a:p xmlns:a="http://schemas.openxmlformats.org/drawingml/2006/main">
            <a:pPr algn="l">
              <a:defRPr sz="3450" b="1" i="0">
                <a:solidFill>
                  <a:srgbClr val="F6F2EA"/>
                </a:solidFill>
              </a:defRPr>
            </a:pPr>
            <a:r>
              <a:rPr sz="3450" b="1" i="0">
                <a:solidFill>
                  <a:srgbClr val="F6F2EA"/>
                </a:solidFill>
              </a:rPr>
              <a:t>Ein roter Faden in Foto und Film.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82ae0cefe4fa2"/>
          <a:srcRect xmlns:a="http://schemas.openxmlformats.org/drawingml/2006/main" l="26327" t="0" r="263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950" y="0"/>
            <a:ext cx="49720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DD5AE4-C94E-4602-ADD5-970548F1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71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7A39B"/>
                </a:solidFill>
              </a:defRPr>
            </a:pPr>
            <a:r>
              <a:rPr sz="1500" b="0" i="0">
                <a:solidFill>
                  <a:srgbClr val="A7A39B"/>
                </a:solidFill>
              </a:rPr>
              <a:t>Das Hybrid-Paket nutzt dieselben Sets, Abläufe und Lichtstimmungen. So entsteht mehr Material - ohne dass sich das Restaurant zweimal auf eine Produktion einstellen muss.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873D250-668F-48AF-9D90-31563479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6B33BE-E0D9-4DFA-BA34-876B9836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D79B64"/>
                </a:solidFill>
              </a:defRPr>
            </a:pPr>
            <a:r>
              <a:rPr sz="1875" b="1" i="0">
                <a:solidFill>
                  <a:srgbClr val="D79B64"/>
                </a:solidFill>
              </a:rPr>
              <a:t>FOTO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8CA8F64-8F4D-4D61-BBCE-3D5FE838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00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6F2EA"/>
                </a:solidFill>
              </a:defRPr>
            </a:pPr>
            <a:r>
              <a:rPr sz="1425" b="0" i="0">
                <a:solidFill>
                  <a:srgbClr val="F6F2EA"/>
                </a:solidFill>
              </a:rPr>
              <a:t>Starke Einzelmotive für Feed, Website und PR.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AEA485A-3BD6-4527-BCC0-A0D676A7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D79B64"/>
                </a:solidFill>
              </a:defRPr>
            </a:pPr>
            <a:r>
              <a:rPr sz="1875" b="1" i="0">
                <a:solidFill>
                  <a:srgbClr val="D79B64"/>
                </a:solidFill>
              </a:rPr>
              <a:t>VIDEO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9335A8F-1AA1-4F86-A1D2-B8EE7DE7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673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6F2EA"/>
                </a:solidFill>
              </a:defRPr>
            </a:pPr>
            <a:r>
              <a:rPr sz="1425" b="0" i="0">
                <a:solidFill>
                  <a:srgbClr val="F6F2EA"/>
                </a:solidFill>
              </a:rPr>
              <a:t>Dynamische Reels und Sequenzen für Reichweite und Nähe.</a:t>
            </a:r>
          </a:p>
        </p:txBody>
      </p:sp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435C535F-0359-401C-B002-2D2BF20B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7A39B"/>
                </a:solidFill>
              </a:defRPr>
            </a:pPr>
            <a:r>
              <a:rPr sz="1050" b="1" i="0">
                <a:solidFill>
                  <a:srgbClr val="A7A39B"/>
                </a:solidFill>
              </a:rPr>
              <a:t>ZAUBERWALD / VISUALS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710680-72F5-4602-B6E5-CACA5C39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7A39B"/>
                </a:solidFill>
              </a:defRPr>
            </a:pPr>
            <a:r>
              <a:rPr sz="1050" b="0" i="0">
                <a:solidFill>
                  <a:srgbClr val="A7A39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8648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29D50E6-3C6F-4561-B017-DD19FE6E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2328"/>
                </a:solidFill>
              </a:defRPr>
            </a:pPr>
            <a:r>
              <a:rPr sz="1200" b="1" i="0">
                <a:solidFill>
                  <a:srgbClr val="6D2328"/>
                </a:solidFill>
              </a:rPr>
              <a:t>06  /  CONTENT-SÄULEN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A8C5A67-C469-45D2-BFE8-0BB6B1AC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50505"/>
                </a:solidFill>
              </a:defRPr>
            </a:pPr>
            <a:r>
              <a:rPr sz="3450" b="1" i="0">
                <a:solidFill>
                  <a:srgbClr val="050505"/>
                </a:solidFill>
              </a:rPr>
              <a:t>Vier Perspektiven erzählen</a:t>
            </a:r>
          </a:p>
          <a:p xmlns:a="http://schemas.openxmlformats.org/drawingml/2006/main">
            <a:pPr algn="l">
              <a:defRPr sz="3450" b="1" i="0">
                <a:solidFill>
                  <a:srgbClr val="050505"/>
                </a:solidFill>
              </a:defRPr>
            </a:pPr>
            <a:r>
              <a:rPr sz="3450" b="1" i="0">
                <a:solidFill>
                  <a:srgbClr val="050505"/>
                </a:solidFill>
              </a:rPr>
              <a:t>die ganze Geschichte des Hauses.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72d64d88946f5"/>
          <a:srcRect xmlns:a="http://schemas.openxmlformats.org/drawingml/2006/main" l="28957" t="0" r="289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0"/>
            <a:ext cx="44196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192DB7B-3352-44A8-81F3-6E8A73AF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2328"/>
                </a:solidFill>
              </a:defRPr>
            </a:pPr>
            <a:r>
              <a:rPr sz="1200" b="1" i="0">
                <a:solidFill>
                  <a:srgbClr val="6D2328"/>
                </a:solidFill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16B6BED-D3EF-43CE-A06A-D30A5A5D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765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0505"/>
                </a:solidFill>
              </a:defRPr>
            </a:pPr>
            <a:r>
              <a:rPr sz="1800" b="1" i="0">
                <a:solidFill>
                  <a:srgbClr val="050505"/>
                </a:solidFill>
              </a:rPr>
              <a:t>KÜCHE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621FA4-7617-4753-B8C2-1BE7722E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Produkte, Gerichte, saisonale Karte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B1A1667C-D285-4126-907D-F569949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9D1721-ED77-4819-89E6-3D52F7CE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2328"/>
                </a:solidFill>
              </a:defRPr>
            </a:pPr>
            <a:r>
              <a:rPr sz="1200" b="1" i="0">
                <a:solidFill>
                  <a:srgbClr val="6D2328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A674A9C-8D8E-4588-8EFE-F402F7A7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194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0505"/>
                </a:solidFill>
              </a:defRPr>
            </a:pPr>
            <a:r>
              <a:rPr sz="1800" b="1" i="0">
                <a:solidFill>
                  <a:srgbClr val="050505"/>
                </a:solidFill>
              </a:rPr>
              <a:t>MENSCHEN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90FAC5A-C2B1-4EDD-A8C0-DD157F08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67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Chef, Team, Gastgeber-Momente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D8C9980D-1C2B-4E0C-8334-07DD7B53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FA95951-5D1F-40DE-BB56-CAF39DEA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2328"/>
                </a:solidFill>
              </a:defRPr>
            </a:pPr>
            <a:r>
              <a:rPr sz="1200" b="1" i="0">
                <a:solidFill>
                  <a:srgbClr val="6D2328"/>
                </a:solidFill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C9E5013-3786-45E7-B0B1-538FDC00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62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0505"/>
                </a:solidFill>
              </a:defRPr>
            </a:pPr>
            <a:r>
              <a:rPr sz="1800" b="1" i="0">
                <a:solidFill>
                  <a:srgbClr val="050505"/>
                </a:solidFill>
              </a:rPr>
              <a:t>ATMOSPHÄRE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468F078-2805-4809-9C33-04AFCFE6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10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Raum, Licht, Abendstimmung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34CE44B0-22DF-405E-9739-692994E9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9882678-BBC4-4028-981C-59283D6E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2328"/>
                </a:solidFill>
              </a:defRPr>
            </a:pPr>
            <a:r>
              <a:rPr sz="1200" b="1" i="0">
                <a:solidFill>
                  <a:srgbClr val="6D2328"/>
                </a:solidFill>
              </a:rPr>
              <a:t>04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ACCD1BF-76FF-4B57-98FB-B8153DE0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05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0505"/>
                </a:solidFill>
              </a:defRPr>
            </a:pPr>
            <a:r>
              <a:rPr sz="1800" b="1" i="0">
                <a:solidFill>
                  <a:srgbClr val="050505"/>
                </a:solidFill>
              </a:rPr>
              <a:t>HALTUNG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B2014BB-8443-415B-B67E-17B10A2C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530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Herkunft, Handwerk, Philosophie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9E00E5AA-6B80-482E-9E43-58203553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0C21E755-E9E6-492F-B21C-28C83D02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5952"/>
                </a:solidFill>
              </a:defRPr>
            </a:pPr>
            <a:r>
              <a:rPr sz="1050" b="1" i="0">
                <a:solidFill>
                  <a:srgbClr val="5C5952"/>
                </a:solidFill>
              </a:rPr>
              <a:t>ZAUBERWALD / VISUALS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5FB911-05C0-4D6A-B914-1F0103F0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5952"/>
                </a:solidFill>
              </a:defRPr>
            </a:pPr>
            <a:r>
              <a:rPr sz="1050" b="0" i="0">
                <a:solidFill>
                  <a:srgbClr val="5C595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59593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E0F22B0-12FC-4211-923C-24C10D6F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07  /  BEISPIELHAFTER MONAT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8A98AB0-4455-4806-96BE-06A41DD0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6F2EA"/>
                </a:solidFill>
              </a:defRPr>
            </a:pPr>
            <a:r>
              <a:rPr sz="3450" b="1" i="0">
                <a:solidFill>
                  <a:srgbClr val="F6F2EA"/>
                </a:solidFill>
              </a:rPr>
              <a:t>Aus einem Shooting entsteht</a:t>
            </a:r>
          </a:p>
          <a:p xmlns:a="http://schemas.openxmlformats.org/drawingml/2006/main">
            <a:pPr algn="l">
              <a:defRPr sz="3450" b="1" i="0">
                <a:solidFill>
                  <a:srgbClr val="F6F2EA"/>
                </a:solidFill>
              </a:defRPr>
            </a:pPr>
            <a:r>
              <a:rPr sz="3450" b="1" i="0">
                <a:solidFill>
                  <a:srgbClr val="F6F2EA"/>
                </a:solidFill>
              </a:rPr>
              <a:t>ein planbarer Content-Rhythmus.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aceaf529345b7"/>
          <a:srcRect xmlns:a="http://schemas.openxmlformats.org/drawingml/2006/main" l="31043" t="0" r="310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0550" y="0"/>
            <a:ext cx="39814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1CB86FA-B518-47BD-BAB5-722B200F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4596D1DB-7F40-4F6A-8D58-F07740D4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71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E27FA7D-E698-472E-9CAE-D0840392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WOCHE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6E5776-07C1-4855-9B0D-330A396C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6F2EA"/>
                </a:solidFill>
              </a:defRPr>
            </a:pPr>
            <a:r>
              <a:rPr sz="1725" b="1" i="0">
                <a:solidFill>
                  <a:srgbClr val="F6F2EA"/>
                </a:solidFill>
              </a:rPr>
              <a:t>Hero Reel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68151C8-E362-4E23-887B-73274ABE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39B"/>
                </a:solidFill>
              </a:defRPr>
            </a:pPr>
            <a:r>
              <a:rPr sz="1275" b="0" i="0">
                <a:solidFill>
                  <a:srgbClr val="A7A39B"/>
                </a:solidFill>
              </a:rPr>
              <a:t>Atmosphäre &amp; erste Emotion</a:t>
            </a:r>
          </a:p>
        </p:txBody>
      </p:sp>
      <p:sp>
        <p:nvSpPr>
          <p:cNvPr id="9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116FCE35-08E4-403C-9E6A-75656D5D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171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38BE19-69F0-4F54-BA83-35908E43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19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WOCHE 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F194E7E-5D15-41DA-AE80-98AE710E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6F2EA"/>
                </a:solidFill>
              </a:defRPr>
            </a:pPr>
            <a:r>
              <a:rPr sz="1725" b="1" i="0">
                <a:solidFill>
                  <a:srgbClr val="F6F2EA"/>
                </a:solidFill>
              </a:rPr>
              <a:t>Signature Dish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6963AF-1886-472A-9ABC-CF1609C1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39B"/>
                </a:solidFill>
              </a:defRPr>
            </a:pPr>
            <a:r>
              <a:rPr sz="1275" b="0" i="0">
                <a:solidFill>
                  <a:srgbClr val="A7A39B"/>
                </a:solidFill>
              </a:rPr>
              <a:t>Gericht + kurze Story</a:t>
            </a:r>
          </a:p>
        </p:txBody>
      </p:sp>
      <p:sp>
        <p:nvSpPr>
          <p:cNvPr id="13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F3F4D4E-958B-4098-AAC7-1213D508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71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518EF08-743E-4D44-B159-C466D568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WOCHE 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1AA8397-84A7-4C3F-9B85-60EF84FF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005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6F2EA"/>
                </a:solidFill>
              </a:defRPr>
            </a:pPr>
            <a:r>
              <a:rPr sz="1725" b="1" i="0">
                <a:solidFill>
                  <a:srgbClr val="F6F2EA"/>
                </a:solidFill>
              </a:rPr>
              <a:t>Behind the Scenes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3BEC925-3D3B-4C81-BC4B-D875CACF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625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39B"/>
                </a:solidFill>
              </a:defRPr>
            </a:pPr>
            <a:r>
              <a:rPr sz="1275" b="0" i="0">
                <a:solidFill>
                  <a:srgbClr val="A7A39B"/>
                </a:solidFill>
              </a:rPr>
              <a:t>Handwerk in Küche oder Bar</a:t>
            </a:r>
          </a:p>
        </p:txBody>
      </p:sp>
      <p:sp>
        <p:nvSpPr>
          <p:cNvPr id="17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CAA47997-B2F3-461F-865A-BEE0035C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71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AD07807-C46F-4BEE-807F-3E558298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19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WOCHE 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7CB5763-5036-473C-8FC5-A662FB05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005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6F2EA"/>
                </a:solidFill>
              </a:defRPr>
            </a:pPr>
            <a:r>
              <a:rPr sz="1725" b="1" i="0">
                <a:solidFill>
                  <a:srgbClr val="F6F2EA"/>
                </a:solidFill>
              </a:rPr>
              <a:t>Gastgeber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0017D1D-3E80-4CD8-8D99-F6423C64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625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39B"/>
                </a:solidFill>
              </a:defRPr>
            </a:pPr>
            <a:r>
              <a:rPr sz="1275" b="0" i="0">
                <a:solidFill>
                  <a:srgbClr val="A7A39B"/>
                </a:solidFill>
              </a:rPr>
              <a:t>Team, Service oder Ritual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2E732E4-4A03-496E-83DB-D01BACCE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39B"/>
                </a:solidFill>
              </a:defRPr>
            </a:pPr>
            <a:r>
              <a:rPr sz="1275" b="0" i="0">
                <a:solidFill>
                  <a:srgbClr val="A7A39B"/>
                </a:solidFill>
              </a:rPr>
              <a:t>Der genaue Rhythmus wird an Karte, Events, Saison und Kanäle angepasst.</a:t>
            </a:r>
          </a:p>
        </p:txBody>
      </p:sp>
      <p:sp>
        <p:nvSpPr>
          <p:cNvPr id="22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B99C5CD8-AF34-4632-8DA2-B4FD2FF5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7A39B"/>
                </a:solidFill>
              </a:defRPr>
            </a:pPr>
            <a:r>
              <a:rPr sz="1050" b="1" i="0">
                <a:solidFill>
                  <a:srgbClr val="A7A39B"/>
                </a:solidFill>
              </a:rPr>
              <a:t>ZAUBERWALD / VISUALS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0721CA-12E4-4C7D-AB04-2E1DAEE6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7A39B"/>
                </a:solidFill>
              </a:defRPr>
            </a:pPr>
            <a:r>
              <a:rPr sz="1050" b="0" i="0">
                <a:solidFill>
                  <a:srgbClr val="A7A39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9102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C6A6E7D-0AF7-4652-B613-2F742CC3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2328"/>
                </a:solidFill>
              </a:defRPr>
            </a:pPr>
            <a:r>
              <a:rPr sz="1200" b="1" i="0">
                <a:solidFill>
                  <a:srgbClr val="6D2328"/>
                </a:solidFill>
              </a:rPr>
              <a:t>08  /  DREI MÖGLICHE UMFÄNGE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50D89D4-D577-47AB-BDE3-F401DF2E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50505"/>
                </a:solidFill>
              </a:defRPr>
            </a:pPr>
            <a:r>
              <a:rPr sz="3450" b="1" i="0">
                <a:solidFill>
                  <a:srgbClr val="050505"/>
                </a:solidFill>
              </a:rPr>
              <a:t>Der Content-Plan richtet sich nach dem Ziel.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E9982CC-F58F-4AD4-A5BE-657EF49E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5952"/>
                </a:solidFill>
              </a:defRPr>
            </a:pPr>
            <a:r>
              <a:rPr sz="1425" b="0" i="0">
                <a:solidFill>
                  <a:srgbClr val="5C5952"/>
                </a:solidFill>
              </a:rPr>
              <a:t>Die finalen Mengen und Formate werden individuell auf Kanäle, Saison und Veröffentlichungsrhythmus abgestimmt.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AFFE3EB-1A1B-40C5-A120-2581EC28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8520C83-786E-4BCB-9015-9DDA15DD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</a:defRPr>
            </a:pPr>
            <a:r>
              <a:rPr sz="1875" b="1" i="0">
                <a:solidFill>
                  <a:srgbClr val="050505"/>
                </a:solidFill>
              </a:rPr>
              <a:t>FOTOGRAFIE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A5725E-57A2-4358-92FB-010FAFE5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0505"/>
                </a:solidFill>
              </a:defRPr>
            </a:pPr>
            <a:r>
              <a:rPr sz="1425" b="1" i="0">
                <a:solidFill>
                  <a:srgbClr val="050505"/>
                </a:solidFill>
              </a:rPr>
              <a:t>Eine vielseitige Bildbibliothek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3C8F81E-6055-4162-A266-49CDC8F8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Gerichte</a:t>
            </a:r>
          </a:p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Raum &amp; Details</a:t>
            </a:r>
          </a:p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Team &amp; Service</a:t>
            </a:r>
          </a:p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Website + Social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7AE11204-E8C0-48C4-9B39-92498A76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194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C9A675-622A-4132-B51E-09D080F7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</a:defRPr>
            </a:pPr>
            <a:r>
              <a:rPr sz="1875" b="1" i="0">
                <a:solidFill>
                  <a:srgbClr val="050505"/>
                </a:solidFill>
              </a:rPr>
              <a:t>VIDEO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F3642B-928F-4164-8877-E1175EB4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576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0505"/>
                </a:solidFill>
              </a:defRPr>
            </a:pPr>
            <a:r>
              <a:rPr sz="1425" b="1" i="0">
                <a:solidFill>
                  <a:srgbClr val="050505"/>
                </a:solidFill>
              </a:rPr>
              <a:t>Bewegte Geschichten mit Tempo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0A59078-C6EA-4EED-983C-5733BF3A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577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Hero Reel</a:t>
            </a:r>
          </a:p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Kurzformate</a:t>
            </a:r>
          </a:p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Process-Sequenzen</a:t>
            </a:r>
          </a:p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Social-first Schnitt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56F2691C-D38A-4E55-BB23-029E9B6D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6A0D0A4-A325-4251-B119-AE097852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6D2328"/>
                </a:solidFill>
              </a:defRPr>
            </a:pPr>
            <a:r>
              <a:rPr sz="1875" b="1" i="0">
                <a:solidFill>
                  <a:srgbClr val="6D2328"/>
                </a:solidFill>
              </a:rPr>
              <a:t>HYBRID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BDAD753-637B-4D84-9565-61D12068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0505"/>
                </a:solidFill>
              </a:defRPr>
            </a:pPr>
            <a:r>
              <a:rPr sz="1425" b="1" i="0">
                <a:solidFill>
                  <a:srgbClr val="050505"/>
                </a:solidFill>
              </a:rPr>
              <a:t>Ein konsistenter Auftritt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5E9B5B4-7052-4437-9EF3-8D8EC588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Foto + Video</a:t>
            </a:r>
          </a:p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Gemeinsame Bildsprache</a:t>
            </a:r>
          </a:p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Mehr Touchpoints</a:t>
            </a:r>
          </a:p>
          <a:p xmlns:a="http://schemas.openxmlformats.org/drawingml/2006/main">
            <a:pPr algn="l">
              <a:defRPr sz="1350" b="0" i="0">
                <a:solidFill>
                  <a:srgbClr val="5C5952"/>
                </a:solidFill>
              </a:defRPr>
            </a:pPr>
            <a:r>
              <a:rPr sz="1350" b="0" i="0">
                <a:solidFill>
                  <a:srgbClr val="5C5952"/>
                </a:solidFill>
              </a:rPr>
              <a:t>Effizienter Produktionstag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8569CF0-F52E-4D56-BB3A-6ACC3396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05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2328"/>
                </a:solidFill>
              </a:defRPr>
            </a:pPr>
            <a:r>
              <a:rPr sz="1200" b="1" i="0">
                <a:solidFill>
                  <a:srgbClr val="6D2328"/>
                </a:solidFill>
              </a:rPr>
              <a:t>EMPFEHLUNG</a:t>
            </a:r>
          </a:p>
        </p:txBody>
      </p:sp>
      <p:sp>
        <p:nvSpPr>
          <p:cNvPr id="17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FBED4407-8A40-41CE-8CF8-2FC90EC3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5952"/>
                </a:solidFill>
              </a:defRPr>
            </a:pPr>
            <a:r>
              <a:rPr sz="1050" b="1" i="0">
                <a:solidFill>
                  <a:srgbClr val="5C5952"/>
                </a:solidFill>
              </a:rPr>
              <a:t>ZAUBERWALD / VISUALS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B4485E-4ABB-4196-9FA9-1FB0871C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5952"/>
                </a:solidFill>
              </a:defRPr>
            </a:pPr>
            <a:r>
              <a:rPr sz="1050" b="0" i="0">
                <a:solidFill>
                  <a:srgbClr val="5C595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12752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B5857C8-6A05-4AE0-99B6-886E5719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DER NÄCHSTE SCHRITT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95385E3-2E82-4036-9253-E2C1620E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953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6F2EA"/>
                </a:solidFill>
              </a:defRPr>
            </a:pPr>
            <a:r>
              <a:rPr sz="3900" b="1" i="0">
                <a:solidFill>
                  <a:srgbClr val="F6F2EA"/>
                </a:solidFill>
              </a:rPr>
              <a:t>Aus dem Konzept wird</a:t>
            </a:r>
          </a:p>
          <a:p xmlns:a="http://schemas.openxmlformats.org/drawingml/2006/main">
            <a:pPr algn="l">
              <a:defRPr sz="3900" b="1" i="0">
                <a:solidFill>
                  <a:srgbClr val="F6F2EA"/>
                </a:solidFill>
              </a:defRPr>
            </a:pPr>
            <a:r>
              <a:rPr sz="3900" b="1" i="0">
                <a:solidFill>
                  <a:srgbClr val="F6F2EA"/>
                </a:solidFill>
              </a:rPr>
              <a:t>eine Bildwelt, die zu Ihrem Haus passt.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877DB14-EBB1-42C9-88D2-638EA8B8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F9C185F-195A-493E-B609-EA0D948B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647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7A39B"/>
                </a:solidFill>
              </a:defRPr>
            </a:pPr>
            <a:r>
              <a:rPr sz="1575" b="0" i="0">
                <a:solidFill>
                  <a:srgbClr val="A7A39B"/>
                </a:solidFill>
              </a:rPr>
              <a:t>Im Gespräch definieren wir Ziel, Kanäle, Motive und Produktionsumfang. Daraus entsteht ein konkreter Shooting- und Veröffentlichungsplan.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0F4376-6DAC-47B9-9DA1-1B5D684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6F2EA"/>
                </a:solidFill>
              </a:defRPr>
            </a:pPr>
            <a:r>
              <a:rPr sz="1950" b="1" i="0">
                <a:solidFill>
                  <a:srgbClr val="F6F2EA"/>
                </a:solidFill>
              </a:rPr>
              <a:t>zauberwald-visuals.de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D0CF2AE-2477-4321-A8E6-6636C6F1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64"/>
                </a:solidFill>
              </a:defRPr>
            </a:pPr>
            <a:r>
              <a:rPr sz="1200" b="1" i="0">
                <a:solidFill>
                  <a:srgbClr val="D79B64"/>
                </a:solidFill>
              </a:rPr>
              <a:t>FOTOGRAFIE  /  VIDEO  /  HYBRID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765AB83-7E88-4BB8-8747-32243093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550" b="1" i="0">
                <a:solidFill>
                  <a:srgbClr val="F6F2EA"/>
                </a:solidFill>
              </a:defRPr>
            </a:pPr>
            <a:r>
              <a:rPr sz="2550" b="1" i="0">
                <a:solidFill>
                  <a:srgbClr val="F6F2EA"/>
                </a:solidFill>
              </a:rPr>
              <a:t>ZAUBERWALD</a:t>
            </a:r>
          </a:p>
          <a:p xmlns:a="http://schemas.openxmlformats.org/drawingml/2006/main">
            <a:pPr algn="r">
              <a:defRPr sz="2550" b="1" i="0">
                <a:solidFill>
                  <a:srgbClr val="F6F2EA"/>
                </a:solidFill>
              </a:defRPr>
            </a:pPr>
            <a:r>
              <a:rPr sz="2550" b="1" i="0">
                <a:solidFill>
                  <a:srgbClr val="F6F2EA"/>
                </a:solidFill>
              </a:rPr>
              <a:t>VISUALS</a:t>
            </a:r>
          </a:p>
        </p:txBody>
      </p:sp>
    </p:spTree>
    <p:extLst>
      <p:ext uri="{BB962C8B-B14F-4D97-AF65-F5344CB8AC3E}">
        <p14:creationId xmlns:p14="http://schemas.microsoft.com/office/powerpoint/2010/main" val="357997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2026-08-20T11:11:37.0770000Z</dcterms:created>
  <dcterms:modified xsi:type="dcterms:W3CDTF">2026-08-20T11:11:37.0770000Z</dcterms:modified>
</coreProperties>
</file>